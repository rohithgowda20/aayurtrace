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78" r:id="rId2"/>
    <p:sldId id="269" r:id="rId3"/>
    <p:sldId id="275" r:id="rId4"/>
    <p:sldId id="257" r:id="rId5"/>
    <p:sldId id="276" r:id="rId6"/>
    <p:sldId id="277" r:id="rId7"/>
    <p:sldId id="272"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bitcoin.org/bitcoin.pd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bg2">
                    <a:lumMod val="75000"/>
                  </a:schemeClr>
                </a:solidFill>
                <a:latin typeface="Times New Roman" panose="02020603050405020304" pitchFamily="18" charset="0"/>
                <a:ea typeface="Verdana" panose="020B0604030504040204" pitchFamily="34" charset="0"/>
                <a:cs typeface="Times New Roman" panose="02020603050405020304" pitchFamily="18" charset="0"/>
              </a:rPr>
              <a:t>Develop a blockchain-based system for botanical traceability of Ayurvedic herbs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Number:CSE_195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lvl="0" algn="ctr">
              <a:buClr>
                <a:srgbClr val="17365D"/>
              </a:buClr>
              <a:buSzPts val="2000"/>
            </a:pPr>
            <a:r>
              <a:rPr lang="en-US" sz="20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lvl="0" algn="ctr">
              <a:spcBef>
                <a:spcPts val="340"/>
              </a:spcBef>
              <a:buClr>
                <a:srgbClr val="17365D"/>
              </a:buClr>
              <a:buSzPts val="1700"/>
            </a:pPr>
            <a:r>
              <a:rPr lang="en-US" sz="1800" b="1" dirty="0">
                <a:solidFill>
                  <a:srgbClr val="17365D"/>
                </a:solidFill>
                <a:latin typeface="Cambria" panose="02040503050406030204" pitchFamily="18" charset="0"/>
                <a:ea typeface="Cambria" panose="02040503050406030204" pitchFamily="18" charset="0"/>
                <a:cs typeface="Verdana"/>
                <a:sym typeface="Verdana"/>
              </a:rPr>
              <a:t>Ms. Sharanya Salian</a:t>
            </a:r>
            <a:endParaRPr lang="en-US" sz="1800"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US" sz="1800" b="1" dirty="0">
                <a:solidFill>
                  <a:srgbClr val="17365D"/>
                </a:solidFill>
                <a:latin typeface="Cambria" panose="02040503050406030204" pitchFamily="18" charset="0"/>
                <a:ea typeface="Cambria" panose="02040503050406030204" pitchFamily="18" charset="0"/>
                <a:cs typeface="Verdana"/>
                <a:sym typeface="Verdana"/>
              </a:rPr>
              <a:t>Associate Professor </a:t>
            </a:r>
          </a:p>
          <a:p>
            <a:pPr lvl="0" algn="ctr">
              <a:spcBef>
                <a:spcPts val="340"/>
              </a:spcBef>
              <a:buClr>
                <a:srgbClr val="17365D"/>
              </a:buClr>
              <a:buSzPts val="1700"/>
            </a:pPr>
            <a:r>
              <a:rPr lang="en-US" sz="1800" b="1"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1800"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US" sz="18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800"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826000"/>
            <a:ext cx="12249915" cy="1505973"/>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University Project</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Dr.Blessed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Dr. </a:t>
            </a:r>
            <a:r>
              <a:rPr lang="en-US" sz="1800" b="1"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Muthuraju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DE53358E-86C6-840A-4399-FEF7F99D0309}"/>
              </a:ext>
            </a:extLst>
          </p:cNvPr>
          <p:cNvGraphicFramePr>
            <a:graphicFrameLocks noGrp="1"/>
          </p:cNvGraphicFramePr>
          <p:nvPr/>
        </p:nvGraphicFramePr>
        <p:xfrm>
          <a:off x="457723" y="2677872"/>
          <a:ext cx="5514300" cy="1940340"/>
        </p:xfrm>
        <a:graphic>
          <a:graphicData uri="http://schemas.openxmlformats.org/drawingml/2006/table">
            <a:tbl>
              <a:tblPr firstRow="1" bandRow="1"/>
              <a:tblGrid>
                <a:gridCol w="2757150">
                  <a:extLst>
                    <a:ext uri="{9D8B030D-6E8A-4147-A177-3AD203B41FA5}">
                      <a16:colId xmlns:a16="http://schemas.microsoft.com/office/drawing/2014/main" val="3827100469"/>
                    </a:ext>
                  </a:extLst>
                </a:gridCol>
                <a:gridCol w="2757150">
                  <a:extLst>
                    <a:ext uri="{9D8B030D-6E8A-4147-A177-3AD203B41FA5}">
                      <a16:colId xmlns:a16="http://schemas.microsoft.com/office/drawing/2014/main" val="2423567725"/>
                    </a:ext>
                  </a:extLst>
                </a:gridCol>
              </a:tblGrid>
              <a:tr h="485085">
                <a:tc>
                  <a:txBody>
                    <a:bodyPr/>
                    <a:lstStyle/>
                    <a:p>
                      <a:endParaRPr lang="en-IN" dirty="0"/>
                    </a:p>
                  </a:txBody>
                  <a:tcPr/>
                </a:tc>
                <a:tc>
                  <a:txBody>
                    <a:bodyPr/>
                    <a:lstStyle/>
                    <a:p>
                      <a:endParaRPr lang="en-IN"/>
                    </a:p>
                  </a:txBody>
                  <a:tcPr/>
                </a:tc>
                <a:extLst>
                  <a:ext uri="{0D108BD9-81ED-4DB2-BD59-A6C34878D82A}">
                    <a16:rowId xmlns:a16="http://schemas.microsoft.com/office/drawing/2014/main" val="2686521325"/>
                  </a:ext>
                </a:extLst>
              </a:tr>
              <a:tr h="485085">
                <a:tc>
                  <a:txBody>
                    <a:bodyPr/>
                    <a:lstStyle/>
                    <a:p>
                      <a:r>
                        <a:rPr lang="en-IN"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20221CSE0671</a:t>
                      </a:r>
                    </a:p>
                  </a:txBody>
                  <a:tcPr/>
                </a:tc>
                <a:tc>
                  <a:txBody>
                    <a:bodyPr/>
                    <a:lstStyle/>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Gurukiran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9929211"/>
                  </a:ext>
                </a:extLst>
              </a:tr>
              <a:tr h="485085">
                <a:tc>
                  <a:txBody>
                    <a:bodyPr/>
                    <a:lstStyle/>
                    <a:p>
                      <a:r>
                        <a:rPr lang="en-IN" dirty="0"/>
                        <a:t>      </a:t>
                      </a:r>
                      <a:r>
                        <a:rPr lang="en-IN" sz="2000" dirty="0">
                          <a:latin typeface="Times New Roman" panose="02020603050405020304" pitchFamily="18" charset="0"/>
                          <a:cs typeface="Times New Roman" panose="02020603050405020304" pitchFamily="18" charset="0"/>
                        </a:rPr>
                        <a:t>20221CSE0706</a:t>
                      </a:r>
                      <a:endParaRPr lang="en-IN" sz="2000" dirty="0"/>
                    </a:p>
                  </a:txBody>
                  <a:tcPr/>
                </a:tc>
                <a:tc>
                  <a:txBody>
                    <a:bodyPr/>
                    <a:lstStyle/>
                    <a:p>
                      <a:r>
                        <a:rPr lang="en-IN" sz="2000" dirty="0">
                          <a:latin typeface="Times New Roman" panose="02020603050405020304" pitchFamily="18" charset="0"/>
                          <a:cs typeface="Times New Roman" panose="02020603050405020304" pitchFamily="18" charset="0"/>
                        </a:rPr>
                        <a:t>   Rohith H R</a:t>
                      </a:r>
                    </a:p>
                  </a:txBody>
                  <a:tcPr/>
                </a:tc>
                <a:extLst>
                  <a:ext uri="{0D108BD9-81ED-4DB2-BD59-A6C34878D82A}">
                    <a16:rowId xmlns:a16="http://schemas.microsoft.com/office/drawing/2014/main" val="1709406102"/>
                  </a:ext>
                </a:extLst>
              </a:tr>
              <a:tr h="485085">
                <a:tc>
                  <a:txBody>
                    <a:bodyPr/>
                    <a:lstStyle/>
                    <a:p>
                      <a:r>
                        <a:rPr lang="en-IN" dirty="0"/>
                        <a:t> </a:t>
                      </a:r>
                      <a:r>
                        <a:rPr lang="en-IN" sz="2000" dirty="0">
                          <a:latin typeface="Times New Roman" panose="02020603050405020304" pitchFamily="18" charset="0"/>
                          <a:cs typeface="Times New Roman" panose="02020603050405020304" pitchFamily="18" charset="0"/>
                        </a:rPr>
                        <a:t>    20221CSE0723</a:t>
                      </a:r>
                      <a:endParaRPr lang="en-IN" dirty="0"/>
                    </a:p>
                  </a:txBody>
                  <a:tcPr/>
                </a:tc>
                <a:tc>
                  <a:txBody>
                    <a:bodyPr/>
                    <a:lstStyle/>
                    <a:p>
                      <a:r>
                        <a:rPr lang="en-IN" sz="2000" dirty="0">
                          <a:latin typeface="Times New Roman" panose="02020603050405020304" pitchFamily="18" charset="0"/>
                          <a:cs typeface="Times New Roman" panose="02020603050405020304" pitchFamily="18" charset="0"/>
                        </a:rPr>
                        <a:t>   Sudeep</a:t>
                      </a:r>
                    </a:p>
                  </a:txBody>
                  <a:tcPr/>
                </a:tc>
                <a:extLst>
                  <a:ext uri="{0D108BD9-81ED-4DB2-BD59-A6C34878D82A}">
                    <a16:rowId xmlns:a16="http://schemas.microsoft.com/office/drawing/2014/main" val="49839886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7376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  </a:t>
            </a:r>
            <a:r>
              <a:rPr lang="en-US" dirty="0">
                <a:latin typeface="Times New Roman" panose="02020603050405020304" pitchFamily="18" charset="0"/>
                <a:ea typeface="Cambria" panose="02040503050406030204" pitchFamily="18" charset="0"/>
                <a:cs typeface="Times New Roman" panose="02020603050405020304" pitchFamily="18" charset="0"/>
              </a:rPr>
              <a:t>SIH25001</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026160"/>
            <a:ext cx="10668000" cy="5069841"/>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72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Organization</a:t>
            </a:r>
            <a:r>
              <a:rPr lang="en-US" sz="7200" dirty="0">
                <a:latin typeface="Times New Roman" panose="02020603050405020304" pitchFamily="18" charset="0"/>
                <a:ea typeface="Cambria" panose="02040503050406030204" pitchFamily="18" charset="0"/>
                <a:cs typeface="Times New Roman" panose="02020603050405020304" pitchFamily="18" charset="0"/>
              </a:rPr>
              <a:t>: </a:t>
            </a:r>
            <a:r>
              <a:rPr lang="en-US" sz="7200" dirty="0">
                <a:latin typeface="Times New Roman" panose="02020603050405020304" pitchFamily="18" charset="0"/>
                <a:cs typeface="Times New Roman" panose="02020603050405020304" pitchFamily="18" charset="0"/>
              </a:rPr>
              <a:t>Ministry of Health and Family Welfare (MoHFW), Government of India</a:t>
            </a:r>
            <a:endParaRPr lang="en-US" sz="72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72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Category </a:t>
            </a:r>
            <a:r>
              <a:rPr lang="en-US" sz="7200" b="1" dirty="0">
                <a:latin typeface="Times New Roman" panose="02020603050405020304" pitchFamily="18" charset="0"/>
                <a:ea typeface="Cambria" panose="02040503050406030204" pitchFamily="18" charset="0"/>
                <a:cs typeface="Times New Roman" panose="02020603050405020304" pitchFamily="18" charset="0"/>
              </a:rPr>
              <a:t> </a:t>
            </a:r>
            <a:r>
              <a:rPr lang="en-US" sz="7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t>
            </a:r>
            <a:r>
              <a:rPr lang="en-US" sz="72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rPr>
              <a:t>  </a:t>
            </a:r>
            <a:r>
              <a:rPr lang="en-US" sz="7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lnSpc>
                <a:spcPct val="200000"/>
              </a:lnSpc>
              <a:spcBef>
                <a:spcPts val="0"/>
              </a:spcBef>
              <a:buNone/>
            </a:pPr>
            <a:r>
              <a:rPr lang="en-US" sz="72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nSpc>
                <a:spcPct val="200000"/>
              </a:lnSpc>
              <a:spcBef>
                <a:spcPts val="0"/>
              </a:spcBef>
              <a:buNone/>
            </a:pPr>
            <a:r>
              <a:rPr lang="en-US" sz="7200" dirty="0">
                <a:latin typeface="Times New Roman" panose="02020603050405020304" pitchFamily="18" charset="0"/>
                <a:ea typeface="Verdana" panose="020B0604030504040204" pitchFamily="34" charset="0"/>
                <a:cs typeface="Times New Roman" panose="02020603050405020304" pitchFamily="18" charset="0"/>
              </a:rPr>
              <a:t>   Ayurvedic medicines are formulated using medicinal herbs whose quality, authenticity, and origin play a crucial role in ensuring therapeutic effectiveness and patient safety. However, the current Ayurvedic herbal supply chain lacks a reliable and transparent traceability mechanism to track botanical materials from their source to the final product. Most records related to herb collection, cultivation, processing, and distribution are maintained in manual or centralized systems, making them prone to data manipulation, errors, and information loss.</a:t>
            </a:r>
            <a:endParaRPr lang="en-US" b="1" dirty="0">
              <a:solidFill>
                <a:schemeClr val="bg2">
                  <a:lumMod val="75000"/>
                </a:schemeClr>
              </a:solidFill>
              <a:latin typeface="Quicksand" panose="00000500000000000000" pitchFamily="2"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6;p14">
            <a:extLst>
              <a:ext uri="{FF2B5EF4-FFF2-40B4-BE49-F238E27FC236}">
                <a16:creationId xmlns:a16="http://schemas.microsoft.com/office/drawing/2014/main" id="{8B9584AC-240F-43D9-A50A-14E6791DC7A8}"/>
              </a:ext>
            </a:extLst>
          </p:cNvPr>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5" name="Google Shape;96;p14">
            <a:extLst>
              <a:ext uri="{FF2B5EF4-FFF2-40B4-BE49-F238E27FC236}">
                <a16:creationId xmlns:a16="http://schemas.microsoft.com/office/drawing/2014/main" id="{F231A488-EF01-422C-B2E9-4072C0A63A3B}"/>
              </a:ext>
            </a:extLst>
          </p:cNvPr>
          <p:cNvSpPr txBox="1">
            <a:spLocks noGrp="1"/>
          </p:cNvSpPr>
          <p:nvPr>
            <p:ph type="body" idx="1"/>
          </p:nvPr>
        </p:nvSpPr>
        <p:spPr>
          <a:xfrm>
            <a:off x="812800" y="523876"/>
            <a:ext cx="10668000" cy="5105400"/>
          </a:xfrm>
          <a:prstGeom prst="rect">
            <a:avLst/>
          </a:prstGeom>
          <a:noFill/>
          <a:ln>
            <a:noFill/>
          </a:ln>
        </p:spPr>
        <p:txBody>
          <a:bodyPr spcFirstLastPara="1" wrap="square" lIns="91425" tIns="45700" rIns="91425" bIns="45700" anchor="ctr" anchorCtr="0">
            <a:noAutofit/>
          </a:bodyPr>
          <a:lstStyle/>
          <a:p>
            <a:pPr marL="152400" indent="0" algn="just">
              <a:lnSpc>
                <a:spcPct val="200000"/>
              </a:lnSpc>
              <a:spcBef>
                <a:spcPts val="0"/>
              </a:spcBef>
              <a:buNone/>
            </a:pPr>
            <a:endParaRPr lang="en-US" sz="1800" dirty="0">
              <a:latin typeface="Verdana" panose="020B0604030504040204" pitchFamily="34" charset="0"/>
              <a:ea typeface="Verdana" panose="020B0604030504040204" pitchFamily="34" charset="0"/>
            </a:endParaRPr>
          </a:p>
          <a:p>
            <a:pPr marL="495300" indent="-342900" algn="just">
              <a:lnSpc>
                <a:spcPct val="200000"/>
              </a:lnSpc>
              <a:spcBef>
                <a:spcPts val="0"/>
              </a:spcBef>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Innovation or Novel Contributions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References</a:t>
            </a:r>
          </a:p>
          <a:p>
            <a:pPr marL="0" lvl="0" indent="0" algn="l" rtl="0">
              <a:spcBef>
                <a:spcPts val="0"/>
              </a:spcBef>
              <a:spcAft>
                <a:spcPts val="0"/>
              </a:spcAft>
              <a:buClr>
                <a:srgbClr val="17365D"/>
              </a:buClr>
              <a:buSzPts val="2800"/>
              <a:buFont typeface="Verdana"/>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66275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104776"/>
            <a:ext cx="10668000" cy="495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t>Content (continuation)..</a:t>
            </a:r>
            <a:endParaRPr dirty="0"/>
          </a:p>
        </p:txBody>
      </p:sp>
      <p:sp>
        <p:nvSpPr>
          <p:cNvPr id="97" name="Google Shape;97;p14"/>
          <p:cNvSpPr txBox="1">
            <a:spLocks noGrp="1"/>
          </p:cNvSpPr>
          <p:nvPr>
            <p:ph type="body" idx="1"/>
          </p:nvPr>
        </p:nvSpPr>
        <p:spPr>
          <a:xfrm>
            <a:off x="812800" y="1171575"/>
            <a:ext cx="10274300" cy="4863465"/>
          </a:xfrm>
          <a:prstGeom prst="rect">
            <a:avLst/>
          </a:prstGeom>
          <a:noFill/>
          <a:ln>
            <a:noFill/>
          </a:ln>
        </p:spPr>
        <p:txBody>
          <a:bodyPr spcFirstLastPara="1" wrap="square" lIns="91425" tIns="45700" rIns="91425" bIns="45700" anchor="t" anchorCtr="0">
            <a:noAutofit/>
          </a:bodyPr>
          <a:lstStyle/>
          <a:p>
            <a:pPr marL="152400" lvl="0" indent="0" algn="just" rtl="0">
              <a:spcBef>
                <a:spcPts val="0"/>
              </a:spcBef>
              <a:spcAft>
                <a:spcPts val="0"/>
              </a:spcAft>
              <a:buClr>
                <a:schemeClr val="dk1"/>
              </a:buClr>
              <a:buSzPts val="2400"/>
              <a:buNone/>
            </a:pPr>
            <a:r>
              <a:rPr lang="en-US" sz="1800" b="1" dirty="0">
                <a:latin typeface="Times New Roman" panose="02020603050405020304" pitchFamily="18" charset="0"/>
                <a:ea typeface="Verdana" panose="020B0604030504040204" pitchFamily="34" charset="0"/>
                <a:cs typeface="Times New Roman" panose="02020603050405020304" pitchFamily="18" charset="0"/>
              </a:rPr>
              <a:t>     Objective :</a:t>
            </a:r>
          </a:p>
          <a:p>
            <a:pPr marL="152400" lvl="0" indent="0" algn="just" rtl="0">
              <a:spcBef>
                <a:spcPts val="0"/>
              </a:spcBef>
              <a:spcAft>
                <a:spcPts val="0"/>
              </a:spcAft>
              <a:buClr>
                <a:schemeClr val="dk1"/>
              </a:buClr>
              <a:buSzPts val="2400"/>
              <a:buNone/>
            </a:pPr>
            <a:endParaRPr lang="en-US" sz="1800" b="1" dirty="0">
              <a:latin typeface="Times New Roman" panose="02020603050405020304" pitchFamily="18" charset="0"/>
              <a:ea typeface="Verdana" panose="020B0604030504040204" pitchFamily="34" charset="0"/>
              <a:cs typeface="Times New Roman" panose="02020603050405020304" pitchFamily="18" charset="0"/>
            </a:endParaRPr>
          </a:p>
          <a:p>
            <a:pPr marL="152400" lvl="0" indent="0" algn="just" rtl="0">
              <a:spcBef>
                <a:spcPts val="0"/>
              </a:spcBef>
              <a:spcAft>
                <a:spcPts val="0"/>
              </a:spcAft>
              <a:buClr>
                <a:schemeClr val="dk1"/>
              </a:buClr>
              <a:buSzPts val="2400"/>
              <a:buNone/>
            </a:pPr>
            <a:r>
              <a:rPr lang="en-US" sz="1800" dirty="0">
                <a:latin typeface="Times New Roman" panose="02020603050405020304" pitchFamily="18" charset="0"/>
                <a:cs typeface="Times New Roman" panose="02020603050405020304" pitchFamily="18" charset="0"/>
              </a:rPr>
              <a:t>Blockchain technology operates as a decentralized ledger that records transactions across multiple computers. In the context of Ayurvedic herbs, it enables the tracking of each herb's journey from cultivation to the end consumer, ensuring transparency, authenticity, and traceability throughout the supply chain. This technology provides an immutable and secure record of each step in the supply chain, helping to prevent counterfeiting, ensure quality control, and enhance consumer trust in the authenticity of Ayurvedic products.</a:t>
            </a:r>
            <a:endParaRPr lang="en-US" sz="1800" b="1" dirty="0">
              <a:latin typeface="Times New Roman" panose="02020603050405020304" pitchFamily="18" charset="0"/>
              <a:ea typeface="Verdana" panose="020B0604030504040204" pitchFamily="34" charset="0"/>
              <a:cs typeface="Times New Roman" panose="02020603050405020304" pitchFamily="18" charset="0"/>
            </a:endParaRPr>
          </a:p>
          <a:p>
            <a:pPr indent="0" algn="just">
              <a:spcAft>
                <a:spcPts val="600"/>
              </a:spcAft>
              <a:buNone/>
              <a:tabLst>
                <a:tab pos="182880" algn="l"/>
              </a:tabLst>
            </a:pPr>
            <a:endParaRPr lang="en-US" sz="1800" b="1" dirty="0">
              <a:latin typeface="Times New Roman" panose="02020603050405020304" pitchFamily="18" charset="0"/>
              <a:ea typeface="Verdana" panose="020B0604030504040204" pitchFamily="34" charset="0"/>
              <a:cs typeface="Times New Roman" panose="02020603050405020304" pitchFamily="18" charset="0"/>
            </a:endParaRPr>
          </a:p>
          <a:p>
            <a:pPr indent="0" algn="just">
              <a:spcAft>
                <a:spcPts val="600"/>
              </a:spcAft>
              <a:buNone/>
              <a:tabLst>
                <a:tab pos="182880" algn="l"/>
              </a:tabLst>
            </a:pPr>
            <a:r>
              <a:rPr lang="en-US" sz="1800" b="1" dirty="0">
                <a:latin typeface="Times New Roman" panose="02020603050405020304" pitchFamily="18" charset="0"/>
                <a:ea typeface="Verdana" panose="020B0604030504040204" pitchFamily="34" charset="0"/>
                <a:cs typeface="Times New Roman" panose="02020603050405020304" pitchFamily="18" charset="0"/>
              </a:rPr>
              <a:t>Background and Related Work</a:t>
            </a:r>
          </a:p>
          <a:p>
            <a:pPr marL="0" marR="0" lvl="0" indent="0" defTabSz="914400" rtl="0" eaLnBrk="0" fontAlgn="base" latinLnBrk="0" hangingPunct="0">
              <a:spcBef>
                <a:spcPct val="0"/>
              </a:spcBef>
              <a:spcAft>
                <a:spcPct val="0"/>
              </a:spcAft>
              <a:buClrTx/>
              <a:buSzTx/>
              <a:buNone/>
              <a:tabLst/>
            </a:pPr>
            <a:r>
              <a:rPr lang="en-US" sz="1800" dirty="0">
                <a:latin typeface="Times New Roman" panose="02020603050405020304" pitchFamily="18" charset="0"/>
                <a:cs typeface="Times New Roman" panose="02020603050405020304" pitchFamily="18" charset="0"/>
              </a:rPr>
              <a:t>Secure blockchain records ensure authenticity, quality, and accurate origin verification across the supply</a:t>
            </a:r>
          </a:p>
          <a:p>
            <a:pPr marL="0" marR="0" lvl="0" indent="0" defTabSz="914400" rtl="0" eaLnBrk="0" fontAlgn="base" latinLnBrk="0" hangingPunct="0">
              <a:spcBef>
                <a:spcPct val="0"/>
              </a:spcBef>
              <a:spcAft>
                <a:spcPct val="0"/>
              </a:spcAft>
              <a:buClrTx/>
              <a:buSzTx/>
              <a:buNone/>
              <a:tabLst/>
            </a:pPr>
            <a:r>
              <a:rPr lang="en-US" sz="1800" dirty="0">
                <a:latin typeface="Times New Roman" panose="02020603050405020304" pitchFamily="18" charset="0"/>
                <a:cs typeface="Times New Roman" panose="02020603050405020304" pitchFamily="18" charset="0"/>
              </a:rPr>
              <a:t>chain.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approach enhances transparency, prevents adulteration, and builds trust among all stakeholders.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1F403-10EC-4248-9DA9-D1D982C648B0}"/>
              </a:ext>
            </a:extLst>
          </p:cNvPr>
          <p:cNvSpPr>
            <a:spLocks noGrp="1"/>
          </p:cNvSpPr>
          <p:nvPr>
            <p:ph type="title"/>
          </p:nvPr>
        </p:nvSpPr>
        <p:spPr/>
        <p:txBody>
          <a:bodyPr/>
          <a:lstStyle/>
          <a:p>
            <a:r>
              <a:rPr lang="en-GB" dirty="0"/>
              <a:t>Content (continuation)..</a:t>
            </a:r>
            <a:endParaRPr lang="en-IN" dirty="0"/>
          </a:p>
        </p:txBody>
      </p:sp>
      <p:sp>
        <p:nvSpPr>
          <p:cNvPr id="3" name="Text Placeholder 2">
            <a:extLst>
              <a:ext uri="{FF2B5EF4-FFF2-40B4-BE49-F238E27FC236}">
                <a16:creationId xmlns:a16="http://schemas.microsoft.com/office/drawing/2014/main" id="{E8BB0A72-D350-4DC4-B394-F59F3EE4934B}"/>
              </a:ext>
            </a:extLst>
          </p:cNvPr>
          <p:cNvSpPr>
            <a:spLocks noGrp="1"/>
          </p:cNvSpPr>
          <p:nvPr>
            <p:ph type="body" idx="1"/>
          </p:nvPr>
        </p:nvSpPr>
        <p:spPr>
          <a:xfrm>
            <a:off x="626225" y="1089430"/>
            <a:ext cx="10668000" cy="4953000"/>
          </a:xfrm>
        </p:spPr>
        <p:txBody>
          <a:bodyPr>
            <a:normAutofit/>
          </a:bodyPr>
          <a:lstStyle/>
          <a:p>
            <a:pPr marL="0" lvl="0" indent="0" eaLnBrk="0" fontAlgn="base"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of the Problem Statement :</a:t>
            </a:r>
            <a:r>
              <a:rPr lang="en-US" altLang="en-US" sz="1800" dirty="0">
                <a:solidFill>
                  <a:schemeClr val="tx1"/>
                </a:solidFill>
                <a:latin typeface="Arial" panose="020B0604020202020204" pitchFamily="34" charset="0"/>
              </a:rPr>
              <a:t>.</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Ayurvedic herbal supply chain is complex and relies on centralized or manual records, leading to low transparency and data tampering.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secure traceability results in adulteration, misidentification of herbs, and false origin claims.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decentralized, tamper-proof system to ensure authenticity, quality, and trust across the supply chain.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Innovations / Novel Contributions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Proposes a blockchain-based traceability system specifically designed for Ayurvedic botanical supply chains.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tamper-proof and transparent recording of herb-related data from collection to final product.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authenticity verification and adulteration prevention without relying on centralized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trustworthy framework for manufacturers, regulators, and consumers.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10976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7ADE9-0AFD-4B48-90B0-B719B59F133F}"/>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IN" dirty="0"/>
          </a:p>
        </p:txBody>
      </p:sp>
      <p:graphicFrame>
        <p:nvGraphicFramePr>
          <p:cNvPr id="5" name="Table 4">
            <a:extLst>
              <a:ext uri="{FF2B5EF4-FFF2-40B4-BE49-F238E27FC236}">
                <a16:creationId xmlns:a16="http://schemas.microsoft.com/office/drawing/2014/main" id="{5673485B-F5D1-DE27-B451-4D1CB861BCB3}"/>
              </a:ext>
            </a:extLst>
          </p:cNvPr>
          <p:cNvGraphicFramePr>
            <a:graphicFrameLocks noGrp="1"/>
          </p:cNvGraphicFramePr>
          <p:nvPr>
            <p:extLst>
              <p:ext uri="{D42A27DB-BD31-4B8C-83A1-F6EECF244321}">
                <p14:modId xmlns:p14="http://schemas.microsoft.com/office/powerpoint/2010/main" val="2501330476"/>
              </p:ext>
            </p:extLst>
          </p:nvPr>
        </p:nvGraphicFramePr>
        <p:xfrm>
          <a:off x="812800" y="1143001"/>
          <a:ext cx="8396514" cy="4572000"/>
        </p:xfrm>
        <a:graphic>
          <a:graphicData uri="http://schemas.openxmlformats.org/drawingml/2006/table">
            <a:tbl>
              <a:tblPr firstRow="1" firstCol="1" bandRow="1"/>
              <a:tblGrid>
                <a:gridCol w="4198257">
                  <a:extLst>
                    <a:ext uri="{9D8B030D-6E8A-4147-A177-3AD203B41FA5}">
                      <a16:colId xmlns:a16="http://schemas.microsoft.com/office/drawing/2014/main" val="3955804961"/>
                    </a:ext>
                  </a:extLst>
                </a:gridCol>
                <a:gridCol w="4198257">
                  <a:extLst>
                    <a:ext uri="{9D8B030D-6E8A-4147-A177-3AD203B41FA5}">
                      <a16:colId xmlns:a16="http://schemas.microsoft.com/office/drawing/2014/main" val="411091248"/>
                    </a:ext>
                  </a:extLst>
                </a:gridCol>
              </a:tblGrid>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Frontend</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React.js</a:t>
                      </a:r>
                    </a:p>
                  </a:txBody>
                  <a:tcPr marL="9525" marR="9525" marT="9525" marB="9525" anchor="ctr">
                    <a:lnL>
                      <a:noFill/>
                    </a:lnL>
                    <a:lnR>
                      <a:noFill/>
                    </a:lnR>
                    <a:lnT>
                      <a:noFill/>
                    </a:lnT>
                    <a:lnB>
                      <a:noFill/>
                    </a:lnB>
                    <a:noFill/>
                  </a:tcPr>
                </a:tc>
                <a:extLst>
                  <a:ext uri="{0D108BD9-81ED-4DB2-BD59-A6C34878D82A}">
                    <a16:rowId xmlns:a16="http://schemas.microsoft.com/office/drawing/2014/main" val="511861149"/>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Backend</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Node.js with Express.js</a:t>
                      </a:r>
                    </a:p>
                  </a:txBody>
                  <a:tcPr marL="9525" marR="9525" marT="9525" marB="9525" anchor="ctr">
                    <a:lnL>
                      <a:noFill/>
                    </a:lnL>
                    <a:lnR>
                      <a:noFill/>
                    </a:lnR>
                    <a:lnT>
                      <a:noFill/>
                    </a:lnT>
                    <a:lnB>
                      <a:noFill/>
                    </a:lnB>
                    <a:noFill/>
                  </a:tcPr>
                </a:tc>
                <a:extLst>
                  <a:ext uri="{0D108BD9-81ED-4DB2-BD59-A6C34878D82A}">
                    <a16:rowId xmlns:a16="http://schemas.microsoft.com/office/drawing/2014/main" val="819555974"/>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Blockchain</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Ethereum (Test Network)</a:t>
                      </a:r>
                    </a:p>
                  </a:txBody>
                  <a:tcPr marL="9525" marR="9525" marT="9525" marB="9525" anchor="ctr">
                    <a:lnL>
                      <a:noFill/>
                    </a:lnL>
                    <a:lnR>
                      <a:noFill/>
                    </a:lnR>
                    <a:lnT>
                      <a:noFill/>
                    </a:lnT>
                    <a:lnB>
                      <a:noFill/>
                    </a:lnB>
                    <a:noFill/>
                  </a:tcPr>
                </a:tc>
                <a:extLst>
                  <a:ext uri="{0D108BD9-81ED-4DB2-BD59-A6C34878D82A}">
                    <a16:rowId xmlns:a16="http://schemas.microsoft.com/office/drawing/2014/main" val="950221250"/>
                  </a:ext>
                </a:extLst>
              </a:tr>
              <a:tr h="457200">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Smart Contracts</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Solidity</a:t>
                      </a:r>
                    </a:p>
                  </a:txBody>
                  <a:tcPr marL="9525" marR="9525" marT="9525" marB="9525" anchor="ctr">
                    <a:lnL>
                      <a:noFill/>
                    </a:lnL>
                    <a:lnR>
                      <a:noFill/>
                    </a:lnR>
                    <a:lnT>
                      <a:noFill/>
                    </a:lnT>
                    <a:lnB>
                      <a:noFill/>
                    </a:lnB>
                    <a:noFill/>
                  </a:tcPr>
                </a:tc>
                <a:extLst>
                  <a:ext uri="{0D108BD9-81ED-4DB2-BD59-A6C34878D82A}">
                    <a16:rowId xmlns:a16="http://schemas.microsoft.com/office/drawing/2014/main" val="527754443"/>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Blockchain API</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Web3.js</a:t>
                      </a:r>
                    </a:p>
                  </a:txBody>
                  <a:tcPr marL="9525" marR="9525" marT="9525" marB="9525" anchor="ctr">
                    <a:lnL>
                      <a:noFill/>
                    </a:lnL>
                    <a:lnR>
                      <a:noFill/>
                    </a:lnR>
                    <a:lnT>
                      <a:noFill/>
                    </a:lnT>
                    <a:lnB>
                      <a:noFill/>
                    </a:lnB>
                    <a:noFill/>
                  </a:tcPr>
                </a:tc>
                <a:extLst>
                  <a:ext uri="{0D108BD9-81ED-4DB2-BD59-A6C34878D82A}">
                    <a16:rowId xmlns:a16="http://schemas.microsoft.com/office/drawing/2014/main" val="2875277439"/>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Database</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MongoDB</a:t>
                      </a:r>
                    </a:p>
                  </a:txBody>
                  <a:tcPr marL="9525" marR="9525" marT="9525" marB="9525" anchor="ctr">
                    <a:lnL>
                      <a:noFill/>
                    </a:lnL>
                    <a:lnR>
                      <a:noFill/>
                    </a:lnR>
                    <a:lnT>
                      <a:noFill/>
                    </a:lnT>
                    <a:lnB>
                      <a:noFill/>
                    </a:lnB>
                    <a:noFill/>
                  </a:tcPr>
                </a:tc>
                <a:extLst>
                  <a:ext uri="{0D108BD9-81ED-4DB2-BD59-A6C34878D82A}">
                    <a16:rowId xmlns:a16="http://schemas.microsoft.com/office/drawing/2014/main" val="1119034041"/>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Geo-Tagging</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Google Maps API</a:t>
                      </a:r>
                    </a:p>
                  </a:txBody>
                  <a:tcPr marL="9525" marR="9525" marT="9525" marB="9525" anchor="ctr">
                    <a:lnL>
                      <a:noFill/>
                    </a:lnL>
                    <a:lnR>
                      <a:noFill/>
                    </a:lnR>
                    <a:lnT>
                      <a:noFill/>
                    </a:lnT>
                    <a:lnB>
                      <a:noFill/>
                    </a:lnB>
                    <a:noFill/>
                  </a:tcPr>
                </a:tc>
                <a:extLst>
                  <a:ext uri="{0D108BD9-81ED-4DB2-BD59-A6C34878D82A}">
                    <a16:rowId xmlns:a16="http://schemas.microsoft.com/office/drawing/2014/main" val="3147407281"/>
                  </a:ext>
                </a:extLst>
              </a:tr>
              <a:tr h="457200">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Security</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JWT</a:t>
                      </a:r>
                    </a:p>
                  </a:txBody>
                  <a:tcPr marL="9525" marR="9525" marT="9525" marB="9525" anchor="ctr">
                    <a:lnL>
                      <a:noFill/>
                    </a:lnL>
                    <a:lnR>
                      <a:noFill/>
                    </a:lnR>
                    <a:lnT>
                      <a:noFill/>
                    </a:lnT>
                    <a:lnB>
                      <a:noFill/>
                    </a:lnB>
                    <a:noFill/>
                  </a:tcPr>
                </a:tc>
                <a:extLst>
                  <a:ext uri="{0D108BD9-81ED-4DB2-BD59-A6C34878D82A}">
                    <a16:rowId xmlns:a16="http://schemas.microsoft.com/office/drawing/2014/main" val="1953719964"/>
                  </a:ext>
                </a:extLst>
              </a:tr>
              <a:tr h="457200">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QR Code</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QR Code Generator</a:t>
                      </a:r>
                    </a:p>
                  </a:txBody>
                  <a:tcPr marL="9525" marR="9525" marT="9525" marB="9525" anchor="ctr">
                    <a:lnL>
                      <a:noFill/>
                    </a:lnL>
                    <a:lnR>
                      <a:noFill/>
                    </a:lnR>
                    <a:lnT>
                      <a:noFill/>
                    </a:lnT>
                    <a:lnB>
                      <a:noFill/>
                    </a:lnB>
                    <a:noFill/>
                  </a:tcPr>
                </a:tc>
                <a:extLst>
                  <a:ext uri="{0D108BD9-81ED-4DB2-BD59-A6C34878D82A}">
                    <a16:rowId xmlns:a16="http://schemas.microsoft.com/office/drawing/2014/main" val="1271933580"/>
                  </a:ext>
                </a:extLst>
              </a:tr>
              <a:tr h="457200">
                <a:tc>
                  <a:txBody>
                    <a:bodyPr/>
                    <a:lstStyle/>
                    <a:p>
                      <a:pPr>
                        <a:lnSpc>
                          <a:spcPct val="107000"/>
                        </a:lnSpc>
                        <a:spcAft>
                          <a:spcPts val="800"/>
                        </a:spcAft>
                        <a:buNone/>
                      </a:pPr>
                      <a:r>
                        <a:rPr lang="en-IN" sz="2400" kern="100">
                          <a:effectLst/>
                          <a:latin typeface="Cambria" panose="02040503050406030204" pitchFamily="18" charset="0"/>
                          <a:ea typeface="Cambria" panose="02040503050406030204" pitchFamily="18" charset="0"/>
                          <a:cs typeface="Tunga" panose="020B0502040204020203" pitchFamily="34" charset="0"/>
                        </a:rPr>
                        <a:t>Blockchain Dev Tool</a:t>
                      </a: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2400" kern="100" dirty="0">
                          <a:effectLst/>
                          <a:latin typeface="Cambria" panose="02040503050406030204" pitchFamily="18" charset="0"/>
                          <a:ea typeface="Cambria" panose="02040503050406030204" pitchFamily="18" charset="0"/>
                          <a:cs typeface="Tunga" panose="020B0502040204020203" pitchFamily="34" charset="0"/>
                        </a:rPr>
                        <a:t>Truffle</a:t>
                      </a:r>
                    </a:p>
                  </a:txBody>
                  <a:tcPr marL="9525" marR="9525" marT="9525" marB="9525" anchor="ctr">
                    <a:lnL>
                      <a:noFill/>
                    </a:lnL>
                    <a:lnR>
                      <a:noFill/>
                    </a:lnR>
                    <a:lnT>
                      <a:noFill/>
                    </a:lnT>
                    <a:lnB>
                      <a:noFill/>
                    </a:lnB>
                    <a:noFill/>
                  </a:tcPr>
                </a:tc>
                <a:extLst>
                  <a:ext uri="{0D108BD9-81ED-4DB2-BD59-A6C34878D82A}">
                    <a16:rowId xmlns:a16="http://schemas.microsoft.com/office/drawing/2014/main" val="3248593065"/>
                  </a:ext>
                </a:extLst>
              </a:tr>
            </a:tbl>
          </a:graphicData>
        </a:graphic>
      </p:graphicFrame>
    </p:spTree>
    <p:extLst>
      <p:ext uri="{BB962C8B-B14F-4D97-AF65-F5344CB8AC3E}">
        <p14:creationId xmlns:p14="http://schemas.microsoft.com/office/powerpoint/2010/main" val="3516218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sz="3200" b="1" dirty="0">
                <a:effectLst/>
                <a:latin typeface="Times New Roman" panose="02020603050405020304" pitchFamily="18" charset="0"/>
                <a:ea typeface="SimSun" panose="02010600030101010101" pitchFamily="2" charset="-122"/>
              </a:rPr>
              <a:t>System Design and Architecture</a:t>
            </a:r>
            <a:endParaRPr lang="en-US" sz="32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9589961" y="1352605"/>
            <a:ext cx="28879908" cy="6131330"/>
          </a:xfrm>
          <a:prstGeom prst="rect">
            <a:avLst/>
          </a:prstGeom>
          <a:noFill/>
          <a:ln>
            <a:noFill/>
          </a:ln>
        </p:spPr>
        <p:txBody>
          <a:bodyPr spcFirstLastPara="1" wrap="square" lIns="91425" tIns="45700" rIns="91425" bIns="45700" anchor="t" anchorCtr="0">
            <a:normAutofit/>
          </a:bodyPr>
          <a:lstStyle/>
          <a:p>
            <a:pPr marL="76200" indent="0">
              <a:buNone/>
            </a:pPr>
            <a:endParaRPr lang="en-IN" dirty="0"/>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076" name="Picture 4">
            <a:extLst>
              <a:ext uri="{FF2B5EF4-FFF2-40B4-BE49-F238E27FC236}">
                <a16:creationId xmlns:a16="http://schemas.microsoft.com/office/drawing/2014/main" id="{B6A6BCC0-E6C8-4DBA-AC38-AE57898F6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1" y="988747"/>
            <a:ext cx="8536406" cy="46703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AD2A8F7-76FB-4888-B31C-2F55FB8031F1}"/>
              </a:ext>
            </a:extLst>
          </p:cNvPr>
          <p:cNvPicPr>
            <a:picLocks noChangeAspect="1"/>
          </p:cNvPicPr>
          <p:nvPr/>
        </p:nvPicPr>
        <p:blipFill>
          <a:blip r:embed="rId4"/>
          <a:stretch>
            <a:fillRect/>
          </a:stretch>
        </p:blipFill>
        <p:spPr>
          <a:xfrm>
            <a:off x="1473200" y="988747"/>
            <a:ext cx="8536406" cy="5025973"/>
          </a:xfrm>
          <a:prstGeom prst="rect">
            <a:avLst/>
          </a:prstGeom>
        </p:spPr>
      </p:pic>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3" name="AutoShape 2" descr="Output image">
            <a:extLst>
              <a:ext uri="{FF2B5EF4-FFF2-40B4-BE49-F238E27FC236}">
                <a16:creationId xmlns:a16="http://schemas.microsoft.com/office/drawing/2014/main" id="{926BC252-DCA9-4F9C-A689-44100C7899A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Output image">
            <a:extLst>
              <a:ext uri="{FF2B5EF4-FFF2-40B4-BE49-F238E27FC236}">
                <a16:creationId xmlns:a16="http://schemas.microsoft.com/office/drawing/2014/main" id="{769BEEB4-F478-4EFF-88A7-8E713E2B974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8A4084A6-3D88-4598-B89F-5728069FC423}"/>
              </a:ext>
            </a:extLst>
          </p:cNvPr>
          <p:cNvPicPr>
            <a:picLocks noChangeAspect="1"/>
          </p:cNvPicPr>
          <p:nvPr/>
        </p:nvPicPr>
        <p:blipFill>
          <a:blip r:embed="rId3"/>
          <a:stretch>
            <a:fillRect/>
          </a:stretch>
        </p:blipFill>
        <p:spPr>
          <a:xfrm>
            <a:off x="659881" y="1188715"/>
            <a:ext cx="10872238" cy="448056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8392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9E3E30DE-422D-43C8-8B68-77CC93941C78}"/>
              </a:ext>
            </a:extLst>
          </p:cNvPr>
          <p:cNvSpPr>
            <a:spLocks noGrp="1" noChangeArrowheads="1"/>
          </p:cNvSpPr>
          <p:nvPr>
            <p:ph type="body" idx="1"/>
          </p:nvPr>
        </p:nvSpPr>
        <p:spPr bwMode="auto">
          <a:xfrm>
            <a:off x="355600" y="1493198"/>
            <a:ext cx="114808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S.Nakamoto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“Bitcoin: A Peer-to-Peer Electronic Cash System,” 2008.</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[Online]. Available: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https://bitcoin.org/bitcoin.pdf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M. Casino, T. K. </a:t>
            </a:r>
            <a:r>
              <a:rPr kumimoji="0" lang="en-US" altLang="en-US" sz="1800" b="1" i="0" u="none" strike="noStrike" cap="none" normalizeH="0" baseline="0" dirty="0" err="1">
                <a:ln>
                  <a:noFill/>
                </a:ln>
                <a:solidFill>
                  <a:schemeClr val="tx1"/>
                </a:solidFill>
                <a:effectLst/>
                <a:latin typeface="Arial" panose="020B0604020202020204" pitchFamily="34" charset="0"/>
              </a:rPr>
              <a:t>Dasaklis</a:t>
            </a:r>
            <a:r>
              <a:rPr kumimoji="0" lang="en-US" altLang="en-US" sz="1800" b="1" i="0" u="none" strike="noStrike" cap="none" normalizeH="0" baseline="0" dirty="0">
                <a:ln>
                  <a:noFill/>
                </a:ln>
                <a:solidFill>
                  <a:schemeClr val="tx1"/>
                </a:solidFill>
                <a:effectLst/>
                <a:latin typeface="Arial" panose="020B0604020202020204" pitchFamily="34" charset="0"/>
              </a:rPr>
              <a:t>, and C. </a:t>
            </a:r>
            <a:r>
              <a:rPr kumimoji="0" lang="en-US" altLang="en-US" sz="1800" b="1" i="0" u="none" strike="noStrike" cap="none" normalizeH="0" baseline="0" dirty="0" err="1">
                <a:ln>
                  <a:noFill/>
                </a:ln>
                <a:solidFill>
                  <a:schemeClr val="tx1"/>
                </a:solidFill>
                <a:effectLst/>
                <a:latin typeface="Arial" panose="020B0604020202020204" pitchFamily="34" charset="0"/>
              </a:rPr>
              <a:t>Patsakis</a:t>
            </a:r>
            <a:r>
              <a:rPr kumimoji="0" lang="en-US" altLang="en-US" sz="1800" b="0" i="0" u="none" strike="noStrike" cap="none" normalizeH="0" baseline="0" dirty="0">
                <a:ln>
                  <a:noFill/>
                </a:ln>
                <a:solidFill>
                  <a:schemeClr val="tx1"/>
                </a:solidFill>
                <a:effectLst/>
                <a:latin typeface="Arial" panose="020B0604020202020204" pitchFamily="34" charset="0"/>
              </a:rPr>
              <a:t>, “A systematic literature review of blockchain-based applications: Current status, classification and open issues,” </a:t>
            </a:r>
            <a:r>
              <a:rPr kumimoji="0" lang="en-US" altLang="en-US" sz="1800" b="0" i="1" u="none" strike="noStrike" cap="none" normalizeH="0" baseline="0" dirty="0">
                <a:ln>
                  <a:noFill/>
                </a:ln>
                <a:solidFill>
                  <a:schemeClr val="tx1"/>
                </a:solidFill>
                <a:effectLst/>
                <a:latin typeface="Arial" panose="020B0604020202020204" pitchFamily="34" charset="0"/>
              </a:rPr>
              <a:t>Telecommunications Systems</a:t>
            </a:r>
            <a:r>
              <a:rPr kumimoji="0" lang="en-US" altLang="en-US" sz="1800" b="0" i="0" u="none" strike="noStrike" cap="none" normalizeH="0" baseline="0" dirty="0">
                <a:ln>
                  <a:noFill/>
                </a:ln>
                <a:solidFill>
                  <a:schemeClr val="tx1"/>
                </a:solidFill>
                <a:effectLst/>
                <a:latin typeface="Arial" panose="020B0604020202020204" pitchFamily="34" charset="0"/>
              </a:rPr>
              <a:t>, vol. 68, no. 3, pp. 1–17, 2019.</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 Reyna, C. Martín, J. Chen, E. Soler, and M. Díaz</a:t>
            </a:r>
            <a:r>
              <a:rPr kumimoji="0" lang="en-US" altLang="en-US" sz="1800" b="0" i="0" u="none" strike="noStrike" cap="none" normalizeH="0" baseline="0" dirty="0">
                <a:ln>
                  <a:noFill/>
                </a:ln>
                <a:solidFill>
                  <a:schemeClr val="tx1"/>
                </a:solidFill>
                <a:effectLst/>
                <a:latin typeface="Arial" panose="020B0604020202020204" pitchFamily="34" charset="0"/>
              </a:rPr>
              <a:t>, “On blockchain and its integration with IoT: Challenges and opportunities,” </a:t>
            </a:r>
            <a:r>
              <a:rPr kumimoji="0" lang="en-US" altLang="en-US" sz="1800" b="0" i="1" u="none" strike="noStrike" cap="none" normalizeH="0" baseline="0" dirty="0">
                <a:ln>
                  <a:noFill/>
                </a:ln>
                <a:solidFill>
                  <a:schemeClr val="tx1"/>
                </a:solidFill>
                <a:effectLst/>
                <a:latin typeface="Arial" panose="020B0604020202020204" pitchFamily="34" charset="0"/>
              </a:rPr>
              <a:t>Future Generation Computer Systems</a:t>
            </a:r>
            <a:r>
              <a:rPr kumimoji="0" lang="en-US" altLang="en-US" sz="1800" b="0" i="0" u="none" strike="noStrike" cap="none" normalizeH="0" baseline="0" dirty="0">
                <a:ln>
                  <a:noFill/>
                </a:ln>
                <a:solidFill>
                  <a:schemeClr val="tx1"/>
                </a:solidFill>
                <a:effectLst/>
                <a:latin typeface="Arial" panose="020B0604020202020204" pitchFamily="34" charset="0"/>
              </a:rPr>
              <a:t>, vol. 88, pp. 173–190, 2018.</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K. Salah, M. H. U. Rehman, N. Nizamuddin, and A. Al-Fuqaha</a:t>
            </a:r>
            <a:r>
              <a:rPr kumimoji="0" lang="en-US" altLang="en-US" sz="1800" b="0" i="0" u="none" strike="noStrike" cap="none" normalizeH="0" baseline="0" dirty="0">
                <a:ln>
                  <a:noFill/>
                </a:ln>
                <a:solidFill>
                  <a:schemeClr val="tx1"/>
                </a:solidFill>
                <a:effectLst/>
                <a:latin typeface="Arial" panose="020B0604020202020204" pitchFamily="34" charset="0"/>
              </a:rPr>
              <a:t>, “Blockchain for AI: Review and open research challenges,”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7, pp. 10127–10149, 2019.</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T. Lin, H. Wang, X. Pei, and C. Wang</a:t>
            </a:r>
            <a:r>
              <a:rPr kumimoji="0" lang="en-US" altLang="en-US" sz="1800" b="0" i="0" u="none" strike="noStrike" cap="none" normalizeH="0" baseline="0" dirty="0">
                <a:ln>
                  <a:noFill/>
                </a:ln>
                <a:solidFill>
                  <a:schemeClr val="tx1"/>
                </a:solidFill>
                <a:effectLst/>
                <a:latin typeface="Arial" panose="020B0604020202020204" pitchFamily="34" charset="0"/>
              </a:rPr>
              <a:t>, “Food safety traceability system based on blockchain and IoT technology,”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7, pp. 20698–20707, 2019.</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P. K. Singh and S. Kim</a:t>
            </a:r>
            <a:r>
              <a:rPr kumimoji="0" lang="en-US" altLang="en-US" sz="1800" b="0" i="0" u="none" strike="noStrike" cap="none" normalizeH="0" baseline="0" dirty="0">
                <a:ln>
                  <a:noFill/>
                </a:ln>
                <a:solidFill>
                  <a:schemeClr val="tx1"/>
                </a:solidFill>
                <a:effectLst/>
                <a:latin typeface="Arial" panose="020B0604020202020204" pitchFamily="34" charset="0"/>
              </a:rPr>
              <a:t>, “Secure and transparent supply chain management using blockchain technology,” </a:t>
            </a:r>
            <a:r>
              <a:rPr kumimoji="0" lang="en-US" altLang="en-US" sz="1800" b="0" i="1" u="none" strike="noStrike" cap="none" normalizeH="0" baseline="0" dirty="0">
                <a:ln>
                  <a:noFill/>
                </a:ln>
                <a:solidFill>
                  <a:schemeClr val="tx1"/>
                </a:solidFill>
                <a:effectLst/>
                <a:latin typeface="Arial" panose="020B0604020202020204" pitchFamily="34" charset="0"/>
              </a:rPr>
              <a:t>International Journal of Advanced Computer Science and Applications</a:t>
            </a:r>
            <a:r>
              <a:rPr kumimoji="0" lang="en-US" altLang="en-US" sz="1800" b="0" i="0" u="none" strike="noStrike" cap="none" normalizeH="0" baseline="0" dirty="0">
                <a:ln>
                  <a:noFill/>
                </a:ln>
                <a:solidFill>
                  <a:schemeClr val="tx1"/>
                </a:solidFill>
                <a:effectLst/>
                <a:latin typeface="Arial" panose="020B0604020202020204" pitchFamily="34" charset="0"/>
              </a:rPr>
              <a:t>, vol. 10, no. 5, pp. 1–8, 2019.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1653</TotalTime>
  <Words>817</Words>
  <Application>Microsoft Office PowerPoint</Application>
  <PresentationFormat>Widescreen</PresentationFormat>
  <Paragraphs>83</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Cambria</vt:lpstr>
      <vt:lpstr>Quicksand</vt:lpstr>
      <vt:lpstr>Times New Roman</vt:lpstr>
      <vt:lpstr>Verdana</vt:lpstr>
      <vt:lpstr>Bioinformatics</vt:lpstr>
      <vt:lpstr>Develop a blockchain-based system for botanical traceability of Ayurvedic herbs</vt:lpstr>
      <vt:lpstr>Problem Statement Number  :  SIH25001</vt:lpstr>
      <vt:lpstr>Content</vt:lpstr>
      <vt:lpstr>Content (continuation)..</vt:lpstr>
      <vt:lpstr>Content (continuation)..</vt:lpstr>
      <vt:lpstr>Analysis of Problem Statement</vt:lpstr>
      <vt:lpstr>System Design and Architecture</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ROHITH GOWDA</cp:lastModifiedBy>
  <cp:revision>85</cp:revision>
  <dcterms:modified xsi:type="dcterms:W3CDTF">2026-02-06T06:19:40Z</dcterms:modified>
</cp:coreProperties>
</file>